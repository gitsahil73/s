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Inte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460081"/>
            <a:ext cx="914400" cy="381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1126331"/>
            <a:ext cx="23627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252" kern="0" dirty="0">
                <a:solidFill>
                  <a:srgbClr val="D8B4FE"/>
                </a:solidFill>
                <a:highlight>
                  <a:srgbClr val="581C8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RETAIL INNOVATION</a:t>
            </a:r>
            <a:endParaRPr lang="en-US" sz="1050" dirty="0"/>
          </a:p>
        </p:txBody>
      </p:sp>
      <p:sp>
        <p:nvSpPr>
          <p:cNvPr id="7" name="Text 1"/>
          <p:cNvSpPr/>
          <p:nvPr/>
        </p:nvSpPr>
        <p:spPr>
          <a:xfrm>
            <a:off x="762000" y="1583531"/>
            <a:ext cx="60960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6750"/>
              </a:lnSpc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Long Queues</a:t>
            </a:r>
            <a:pPr indent="0" marL="0">
              <a:lnSpc>
                <a:spcPts val="6750"/>
              </a:lnSpc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6750"/>
              </a:lnSpc>
              <a:buNone/>
            </a:pPr>
            <a:r>
              <a:rPr lang="en-US" sz="5400" b="1" spc="-108" kern="0" dirty="0">
                <a:solidFill>
                  <a:srgbClr val="D8B4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Stores</a:t>
            </a:r>
            <a:endParaRPr lang="en-US" sz="5400" dirty="0"/>
          </a:p>
        </p:txBody>
      </p:sp>
      <p:sp>
        <p:nvSpPr>
          <p:cNvPr id="8" name="Text 2"/>
          <p:cNvSpPr/>
          <p:nvPr/>
        </p:nvSpPr>
        <p:spPr>
          <a:xfrm>
            <a:off x="762000" y="4802981"/>
            <a:ext cx="609600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56"/>
              </a:lnSpc>
              <a:buNone/>
            </a:pPr>
            <a:r>
              <a:rPr lang="en-US" sz="2250" spc="45" kern="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Design Thinking Approach to</a:t>
            </a:r>
            <a:pPr indent="0" marL="0">
              <a:lnSpc>
                <a:spcPts val="3656"/>
              </a:lnSpc>
              <a:buNone/>
            </a:pPr>
            <a:r>
              <a:rPr lang="en-US" sz="2250" spc="45" kern="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3656"/>
              </a:lnSpc>
              <a:buNone/>
            </a:pPr>
            <a:r>
              <a:rPr lang="en-US" sz="2250" spc="45" kern="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Customer Experience</a:t>
            </a:r>
            <a:endParaRPr lang="en-US" sz="2250" dirty="0"/>
          </a:p>
        </p:txBody>
      </p:sp>
      <p:sp>
        <p:nvSpPr>
          <p:cNvPr id="9" name="Text 3"/>
          <p:cNvSpPr/>
          <p:nvPr/>
        </p:nvSpPr>
        <p:spPr>
          <a:xfrm>
            <a:off x="762000" y="5753100"/>
            <a:ext cx="7406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9D5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for Students &amp; Professors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762000" y="6057900"/>
            <a:ext cx="94411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D5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Methodology: Empathize • Define • Ideate • Prototype • Test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62100"/>
            <a:ext cx="433685" cy="457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29234"/>
            <a:ext cx="205085" cy="15373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52700"/>
            <a:ext cx="464344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708374"/>
            <a:ext cx="235744" cy="17680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43300"/>
            <a:ext cx="533400" cy="457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876800"/>
            <a:ext cx="4762500" cy="1714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1562100"/>
            <a:ext cx="5295900" cy="3048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1562100"/>
            <a:ext cx="5295900" cy="3048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4838700"/>
            <a:ext cx="5295900" cy="130968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58500" y="4686300"/>
            <a:ext cx="914400" cy="12192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71500" y="3810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Overview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571500" y="914400"/>
            <a:ext cx="1162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global challenge of retail congestion and its business impact.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1157585" y="1562100"/>
            <a:ext cx="47098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Retail Issue</a:t>
            </a:r>
            <a:endParaRPr lang="en-US" sz="1500" dirty="0"/>
          </a:p>
        </p:txBody>
      </p:sp>
      <p:sp>
        <p:nvSpPr>
          <p:cNvPr id="16" name="Text 3"/>
          <p:cNvSpPr/>
          <p:nvPr/>
        </p:nvSpPr>
        <p:spPr>
          <a:xfrm>
            <a:off x="1157585" y="1828800"/>
            <a:ext cx="47098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widespread problem affecting stores worldwide, damaging customer loyalty across all sectors.</a:t>
            </a:r>
            <a:endParaRPr lang="en-US" sz="1200" dirty="0"/>
          </a:p>
        </p:txBody>
      </p:sp>
      <p:sp>
        <p:nvSpPr>
          <p:cNvPr id="17" name="Text 4"/>
          <p:cNvSpPr/>
          <p:nvPr/>
        </p:nvSpPr>
        <p:spPr>
          <a:xfrm>
            <a:off x="1188244" y="2552700"/>
            <a:ext cx="46791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Frustration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1188244" y="2819400"/>
            <a:ext cx="467915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Wasted time leads to irritation, stress, and a significantly poor shopping experience.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1257300" y="35433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Sales Revenue</a:t>
            </a:r>
            <a:endParaRPr lang="en-US" sz="1500" dirty="0"/>
          </a:p>
        </p:txBody>
      </p:sp>
      <p:sp>
        <p:nvSpPr>
          <p:cNvPr id="20" name="Text 7"/>
          <p:cNvSpPr/>
          <p:nvPr/>
        </p:nvSpPr>
        <p:spPr>
          <a:xfrm>
            <a:off x="1257300" y="3810000"/>
            <a:ext cx="4610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Businesses face immediate financial loss when customers abandon full carts due to wait times.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571500" y="4610100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 ABANDONMENT RISK BY WAIT TIME</a:t>
            </a:r>
            <a:endParaRPr lang="en-US" sz="1050" dirty="0"/>
          </a:p>
        </p:txBody>
      </p:sp>
      <p:sp>
        <p:nvSpPr>
          <p:cNvPr id="22" name="Text 9"/>
          <p:cNvSpPr/>
          <p:nvPr/>
        </p:nvSpPr>
        <p:spPr>
          <a:xfrm>
            <a:off x="6553200" y="5067300"/>
            <a:ext cx="563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5–10 Minute Rule</a:t>
            </a:r>
            <a:endParaRPr lang="en-US" sz="1800" dirty="0"/>
          </a:p>
        </p:txBody>
      </p:sp>
      <p:sp>
        <p:nvSpPr>
          <p:cNvPr id="23" name="Text 10"/>
          <p:cNvSpPr/>
          <p:nvPr/>
        </p:nvSpPr>
        <p:spPr>
          <a:xfrm>
            <a:off x="6553200" y="5448300"/>
            <a:ext cx="48387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56"/>
              </a:lnSpc>
              <a:buNone/>
            </a:pPr>
            <a:r>
              <a:rPr lang="en-US" sz="1350" dirty="0">
                <a:solidFill>
                  <a:srgbClr val="F3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Studies show that the majority of customers will abandon their purchases after just </a:t>
            </a:r>
            <a:pPr indent="0" marL="0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to 10 minutes</a:t>
            </a:r>
            <a:pPr indent="0" marL="0">
              <a:lnSpc>
                <a:spcPts val="1856"/>
              </a:lnSpc>
              <a:buNone/>
            </a:pPr>
            <a:r>
              <a:rPr lang="en-US" sz="1350" dirty="0">
                <a:solidFill>
                  <a:srgbClr val="F3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waiting in line.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2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29" y="441029"/>
            <a:ext cx="900549" cy="20581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29" y="2066864"/>
            <a:ext cx="5507923" cy="337984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44" y="2302079"/>
            <a:ext cx="411627" cy="41162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724" y="2397980"/>
            <a:ext cx="286669" cy="21971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44" y="2934221"/>
            <a:ext cx="213164" cy="19375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44" y="3522259"/>
            <a:ext cx="191113" cy="19111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44" y="4110298"/>
            <a:ext cx="169061" cy="19880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2971" y="2066864"/>
            <a:ext cx="5507923" cy="337984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8187" y="2302079"/>
            <a:ext cx="411627" cy="41162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4769" y="2393730"/>
            <a:ext cx="198463" cy="22820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8187" y="2934221"/>
            <a:ext cx="191112" cy="19111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8187" y="4110298"/>
            <a:ext cx="169061" cy="19880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852" y="6122952"/>
            <a:ext cx="294019" cy="29401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305" y="6193471"/>
            <a:ext cx="191113" cy="15286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60197" y="6122952"/>
            <a:ext cx="294019" cy="294019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22677" y="6190370"/>
            <a:ext cx="169061" cy="159069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72015" y="6122952"/>
            <a:ext cx="294020" cy="294019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60221" y="6191518"/>
            <a:ext cx="117608" cy="156772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529235" y="441029"/>
            <a:ext cx="1444076" cy="20581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8"/>
              </a:lnSpc>
              <a:buNone/>
            </a:pPr>
            <a:r>
              <a:rPr lang="en-US" sz="1050" b="1" spc="10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01</a:t>
            </a:r>
            <a:endParaRPr lang="en-US" sz="1050" dirty="0"/>
          </a:p>
        </p:txBody>
      </p:sp>
      <p:sp>
        <p:nvSpPr>
          <p:cNvPr id="22" name="Text 1"/>
          <p:cNvSpPr/>
          <p:nvPr/>
        </p:nvSpPr>
        <p:spPr>
          <a:xfrm>
            <a:off x="441029" y="705646"/>
            <a:ext cx="1130986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Empathize</a:t>
            </a:r>
            <a:endParaRPr lang="en-US" sz="4500" dirty="0"/>
          </a:p>
        </p:txBody>
      </p:sp>
      <p:sp>
        <p:nvSpPr>
          <p:cNvPr id="23" name="Text 2"/>
          <p:cNvSpPr/>
          <p:nvPr/>
        </p:nvSpPr>
        <p:spPr>
          <a:xfrm>
            <a:off x="441029" y="1478825"/>
            <a:ext cx="11750971" cy="2352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52"/>
              </a:lnSpc>
              <a:buNone/>
            </a:pPr>
            <a:r>
              <a:rPr lang="en-US" sz="1800" dirty="0">
                <a:solidFill>
                  <a:srgbClr val="7E22C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human experience behind the queue.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1205479" y="2375584"/>
            <a:ext cx="8442484" cy="26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84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Experience</a:t>
            </a:r>
            <a:endParaRPr lang="en-US" sz="2250" dirty="0"/>
          </a:p>
        </p:txBody>
      </p:sp>
      <p:sp>
        <p:nvSpPr>
          <p:cNvPr id="25" name="Text 4"/>
          <p:cNvSpPr/>
          <p:nvPr/>
        </p:nvSpPr>
        <p:spPr>
          <a:xfrm>
            <a:off x="977614" y="2890118"/>
            <a:ext cx="4736123" cy="41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21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Feelings of </a:t>
            </a:r>
            <a:pPr algn="l" indent="0" marL="0">
              <a:lnSpc>
                <a:spcPts val="1621"/>
              </a:lnSpc>
              <a:buNone/>
            </a:pPr>
            <a:r>
              <a:rPr lang="en-US" sz="150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boredom, irritation, and stress</a:t>
            </a:r>
            <a:pPr algn="l" indent="0" marL="0">
              <a:lnSpc>
                <a:spcPts val="1621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during long waits.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955563" y="3478156"/>
            <a:ext cx="4758174" cy="41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21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frustration for </a:t>
            </a:r>
            <a:pPr algn="l" indent="0" marL="0">
              <a:lnSpc>
                <a:spcPts val="1621"/>
              </a:lnSpc>
              <a:buNone/>
            </a:pPr>
            <a:r>
              <a:rPr lang="en-US" sz="150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time-sensitive shoppers</a:t>
            </a:r>
            <a:pPr algn="l" indent="0" marL="0">
              <a:lnSpc>
                <a:spcPts val="1621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commuters.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933511" y="4066195"/>
            <a:ext cx="4780225" cy="41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21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challenges for </a:t>
            </a:r>
            <a:pPr algn="l" indent="0" marL="0">
              <a:lnSpc>
                <a:spcPts val="1621"/>
              </a:lnSpc>
              <a:buNone/>
            </a:pPr>
            <a:r>
              <a:rPr lang="en-US" sz="150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parents with children</a:t>
            </a:r>
            <a:pPr algn="l" indent="0" marL="0">
              <a:lnSpc>
                <a:spcPts val="1621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confined lines.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7007422" y="2375584"/>
            <a:ext cx="5184578" cy="2646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84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Perspective</a:t>
            </a:r>
            <a:endParaRPr lang="en-US" sz="2250" dirty="0"/>
          </a:p>
        </p:txBody>
      </p:sp>
      <p:sp>
        <p:nvSpPr>
          <p:cNvPr id="29" name="Text 8"/>
          <p:cNvSpPr/>
          <p:nvPr/>
        </p:nvSpPr>
        <p:spPr>
          <a:xfrm>
            <a:off x="6757506" y="2890118"/>
            <a:ext cx="4758174" cy="41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21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Feeling </a:t>
            </a:r>
            <a:pPr algn="l" indent="0" marL="0">
              <a:lnSpc>
                <a:spcPts val="1621"/>
              </a:lnSpc>
              <a:buNone/>
            </a:pPr>
            <a:r>
              <a:rPr lang="en-US" sz="150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overwhelmed and pressured</a:t>
            </a:r>
            <a:pPr algn="l" indent="0" marL="0">
              <a:lnSpc>
                <a:spcPts val="1621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during high-traffic rush hours.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6566393" y="3478156"/>
            <a:ext cx="4949287" cy="41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21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from </a:t>
            </a:r>
            <a:pPr algn="l" indent="0" marL="0">
              <a:lnSpc>
                <a:spcPts val="1621"/>
              </a:lnSpc>
              <a:buNone/>
            </a:pPr>
            <a:r>
              <a:rPr lang="en-US" sz="150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manpower</a:t>
            </a:r>
            <a:pPr algn="l" indent="0" marL="0">
              <a:lnSpc>
                <a:spcPts val="1621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managing surge capacity.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6735454" y="4066195"/>
            <a:ext cx="4780226" cy="41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21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Intense burnout during </a:t>
            </a:r>
            <a:pPr algn="l" indent="0" marL="0">
              <a:lnSpc>
                <a:spcPts val="1621"/>
              </a:lnSpc>
              <a:buNone/>
            </a:pPr>
            <a:r>
              <a:rPr lang="en-US" sz="150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periods</a:t>
            </a:r>
            <a:pPr algn="l" indent="0" marL="0">
              <a:lnSpc>
                <a:spcPts val="1621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(lunch, weekends, holidays).</a:t>
            </a:r>
            <a:endParaRPr lang="en-US" sz="1500" dirty="0"/>
          </a:p>
        </p:txBody>
      </p:sp>
      <p:sp>
        <p:nvSpPr>
          <p:cNvPr id="32" name="Text 11"/>
          <p:cNvSpPr/>
          <p:nvPr/>
        </p:nvSpPr>
        <p:spPr>
          <a:xfrm>
            <a:off x="441029" y="5799531"/>
            <a:ext cx="11309865" cy="1470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58"/>
              </a:lnSpc>
              <a:buNone/>
            </a:pPr>
            <a:r>
              <a:rPr lang="en-US" sz="1050" b="1" spc="327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&amp; RESEARCH METHODS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1176077" y="6167055"/>
            <a:ext cx="3999071" cy="20581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1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Interviews</a:t>
            </a:r>
            <a:endParaRPr lang="en-US" sz="1350" dirty="0"/>
          </a:p>
        </p:txBody>
      </p:sp>
      <p:sp>
        <p:nvSpPr>
          <p:cNvPr id="34" name="Text 13"/>
          <p:cNvSpPr/>
          <p:nvPr/>
        </p:nvSpPr>
        <p:spPr>
          <a:xfrm>
            <a:off x="5342423" y="6167055"/>
            <a:ext cx="5065490" cy="20581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1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Observations</a:t>
            </a:r>
            <a:endParaRPr lang="en-US" sz="1350" dirty="0"/>
          </a:p>
        </p:txBody>
      </p:sp>
      <p:sp>
        <p:nvSpPr>
          <p:cNvPr id="35" name="Text 14"/>
          <p:cNvSpPr/>
          <p:nvPr/>
        </p:nvSpPr>
        <p:spPr>
          <a:xfrm>
            <a:off x="9854240" y="6167055"/>
            <a:ext cx="2337760" cy="20581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1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Surveys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5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13" y="1439711"/>
            <a:ext cx="3568210" cy="205049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59" y="1652156"/>
            <a:ext cx="371779" cy="37177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42" y="1723006"/>
            <a:ext cx="172612" cy="23008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1768" y="1439711"/>
            <a:ext cx="3568314" cy="205049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4213" y="1652156"/>
            <a:ext cx="371780" cy="37177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7241" y="1720309"/>
            <a:ext cx="225723" cy="23547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527" y="1439711"/>
            <a:ext cx="3568314" cy="205049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4972" y="1652156"/>
            <a:ext cx="371780" cy="37177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1403" y="1723006"/>
            <a:ext cx="258918" cy="23008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113" y="3702648"/>
            <a:ext cx="3568210" cy="205049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559" y="3915093"/>
            <a:ext cx="371779" cy="37177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6587" y="3983246"/>
            <a:ext cx="225723" cy="23547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11768" y="3702648"/>
            <a:ext cx="3568314" cy="205049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24213" y="3915093"/>
            <a:ext cx="371780" cy="371779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67367" y="3982831"/>
            <a:ext cx="285473" cy="2362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2527" y="3702648"/>
            <a:ext cx="3568314" cy="205049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4972" y="3915093"/>
            <a:ext cx="371780" cy="371779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1278" y="3981482"/>
            <a:ext cx="199167" cy="23900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1113" y="6018695"/>
            <a:ext cx="11129728" cy="44097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1113" y="6162262"/>
            <a:ext cx="112862" cy="153836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31113" y="398335"/>
            <a:ext cx="11660887" cy="45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</a:t>
            </a:r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7E2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3600" dirty="0"/>
          </a:p>
        </p:txBody>
      </p:sp>
      <p:sp>
        <p:nvSpPr>
          <p:cNvPr id="24" name="Text 1"/>
          <p:cNvSpPr/>
          <p:nvPr/>
        </p:nvSpPr>
        <p:spPr>
          <a:xfrm>
            <a:off x="531113" y="935154"/>
            <a:ext cx="11660887" cy="18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4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friction areas identified from the empathy research phase.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743559" y="2183270"/>
            <a:ext cx="5575609" cy="18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4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Waiting Time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743559" y="2448826"/>
            <a:ext cx="3143319" cy="74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of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7E2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10–20 minutes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during peak hours, leading to significant customer friction.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4524213" y="2183270"/>
            <a:ext cx="4919655" cy="18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4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Experience</a:t>
            </a:r>
            <a:endParaRPr lang="en-US" sz="1500" dirty="0"/>
          </a:p>
        </p:txBody>
      </p:sp>
      <p:sp>
        <p:nvSpPr>
          <p:cNvPr id="28" name="Text 5"/>
          <p:cNvSpPr/>
          <p:nvPr/>
        </p:nvSpPr>
        <p:spPr>
          <a:xfrm>
            <a:off x="4524213" y="2448826"/>
            <a:ext cx="3143423" cy="74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checkout process ruins the overall shopping journey, leaving a negative lasting impression.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8304972" y="2183270"/>
            <a:ext cx="3887028" cy="18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4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 Abandonment</a:t>
            </a:r>
            <a:endParaRPr lang="en-US" sz="1500" dirty="0"/>
          </a:p>
        </p:txBody>
      </p:sp>
      <p:sp>
        <p:nvSpPr>
          <p:cNvPr id="30" name="Text 7"/>
          <p:cNvSpPr/>
          <p:nvPr/>
        </p:nvSpPr>
        <p:spPr>
          <a:xfrm>
            <a:off x="8304972" y="2448826"/>
            <a:ext cx="3143423" cy="74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percentage of customers leave items and walk out without purchasing due to queue length.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743559" y="4446206"/>
            <a:ext cx="4263701" cy="18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4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Loyalty</a:t>
            </a:r>
            <a:endParaRPr lang="en-US" sz="1500" dirty="0"/>
          </a:p>
        </p:txBody>
      </p:sp>
      <p:sp>
        <p:nvSpPr>
          <p:cNvPr id="32" name="Text 9"/>
          <p:cNvSpPr/>
          <p:nvPr/>
        </p:nvSpPr>
        <p:spPr>
          <a:xfrm>
            <a:off x="743559" y="4711763"/>
            <a:ext cx="3143319" cy="74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rate the store poorly and are less likely to return, decreasing lifetime value.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4524213" y="4446206"/>
            <a:ext cx="5247632" cy="18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4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Inefficient Flow</a:t>
            </a:r>
            <a:endParaRPr lang="en-US" sz="1500" dirty="0"/>
          </a:p>
        </p:txBody>
      </p:sp>
      <p:sp>
        <p:nvSpPr>
          <p:cNvPr id="34" name="Text 11"/>
          <p:cNvSpPr/>
          <p:nvPr/>
        </p:nvSpPr>
        <p:spPr>
          <a:xfrm>
            <a:off x="4524213" y="4711763"/>
            <a:ext cx="3143423" cy="74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scanning is slow, error-prone, and creates a bottleneck in the store operations.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8304972" y="4446206"/>
            <a:ext cx="3887028" cy="18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4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Overload</a:t>
            </a:r>
            <a:endParaRPr lang="en-US" sz="1500" dirty="0"/>
          </a:p>
        </p:txBody>
      </p:sp>
      <p:sp>
        <p:nvSpPr>
          <p:cNvPr id="36" name="Text 13"/>
          <p:cNvSpPr/>
          <p:nvPr/>
        </p:nvSpPr>
        <p:spPr>
          <a:xfrm>
            <a:off x="8304972" y="4711763"/>
            <a:ext cx="3143423" cy="495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pressure on limited staff during rush hours leads to burnout and errors.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697086" y="6124919"/>
            <a:ext cx="11494914" cy="2285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2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Insight: The bottleneck is manual processing, not just the number of open counters.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9483276" y="6172740"/>
            <a:ext cx="2708724" cy="1327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5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Thinking: Empathize Phase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44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61" y="380296"/>
            <a:ext cx="822290" cy="17747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61" y="1598133"/>
            <a:ext cx="11177822" cy="248935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92" y="1851664"/>
            <a:ext cx="488046" cy="48804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04" y="1953076"/>
            <a:ext cx="285222" cy="28522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061" y="4391723"/>
            <a:ext cx="3590725" cy="179065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9549" y="4594547"/>
            <a:ext cx="405649" cy="40564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8285" y="4683282"/>
            <a:ext cx="228177" cy="22817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0610" y="4391723"/>
            <a:ext cx="3590725" cy="179065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3098" y="4594547"/>
            <a:ext cx="405648" cy="40564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10356" y="4681599"/>
            <a:ext cx="171133" cy="23144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4159" y="4391723"/>
            <a:ext cx="3590724" cy="179065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86648" y="4594547"/>
            <a:ext cx="405649" cy="40564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7061" y="6385205"/>
            <a:ext cx="11177822" cy="202824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83120" y="380296"/>
            <a:ext cx="1331100" cy="17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8"/>
              </a:lnSpc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1050" dirty="0"/>
          </a:p>
        </p:txBody>
      </p:sp>
      <p:sp>
        <p:nvSpPr>
          <p:cNvPr id="17" name="Text 1"/>
          <p:cNvSpPr/>
          <p:nvPr/>
        </p:nvSpPr>
        <p:spPr>
          <a:xfrm>
            <a:off x="507061" y="608473"/>
            <a:ext cx="11177822" cy="45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</a:t>
            </a:r>
            <a:endParaRPr lang="en-US" sz="3600" dirty="0"/>
          </a:p>
        </p:txBody>
      </p:sp>
      <p:sp>
        <p:nvSpPr>
          <p:cNvPr id="18" name="Text 2"/>
          <p:cNvSpPr/>
          <p:nvPr/>
        </p:nvSpPr>
        <p:spPr>
          <a:xfrm>
            <a:off x="507061" y="1116425"/>
            <a:ext cx="11684939" cy="17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97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Synthesizing research into a actionable problem statement.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1400756" y="1994275"/>
            <a:ext cx="8657090" cy="2028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97"/>
              </a:lnSpc>
              <a:buNone/>
            </a:pPr>
            <a:r>
              <a:rPr lang="en-US" sz="1800" b="1" spc="5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STATEMENT</a:t>
            </a:r>
            <a:endParaRPr lang="en-US" sz="1800" dirty="0"/>
          </a:p>
        </p:txBody>
      </p:sp>
      <p:sp>
        <p:nvSpPr>
          <p:cNvPr id="20" name="Text 4"/>
          <p:cNvSpPr/>
          <p:nvPr/>
        </p:nvSpPr>
        <p:spPr>
          <a:xfrm>
            <a:off x="760592" y="2498167"/>
            <a:ext cx="11431408" cy="34860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56"/>
              </a:lnSpc>
              <a:buNone/>
            </a:pPr>
            <a:r>
              <a:rPr lang="en-US" sz="22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"Customers experience significant delays and frustration due to </a:t>
            </a:r>
            <a:endParaRPr lang="en-US" sz="2250" dirty="0"/>
          </a:p>
        </p:txBody>
      </p:sp>
      <p:sp>
        <p:nvSpPr>
          <p:cNvPr id="21" name="Text 5"/>
          <p:cNvSpPr/>
          <p:nvPr/>
        </p:nvSpPr>
        <p:spPr>
          <a:xfrm>
            <a:off x="9501055" y="2498167"/>
            <a:ext cx="2690945" cy="81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56"/>
              </a:lnSpc>
              <a:buNone/>
            </a:pPr>
            <a:r>
              <a:rPr lang="en-US" sz="2250" b="1" i="1" u="sng" dirty="0">
                <a:solidFill>
                  <a:srgbClr val="E9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inefficient, manual checkout systems</a:t>
            </a:r>
            <a:endParaRPr lang="en-US" sz="2250" dirty="0"/>
          </a:p>
        </p:txBody>
      </p:sp>
      <p:sp>
        <p:nvSpPr>
          <p:cNvPr id="22" name="Text 6"/>
          <p:cNvSpPr/>
          <p:nvPr/>
        </p:nvSpPr>
        <p:spPr>
          <a:xfrm>
            <a:off x="4417769" y="2962444"/>
            <a:ext cx="7774231" cy="81288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56"/>
              </a:lnSpc>
              <a:buNone/>
            </a:pPr>
            <a:r>
              <a:rPr lang="en-US" sz="22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retail stores, leading to cart abandonment, reduced satisfaction, and lost revenue for businesses."</a:t>
            </a:r>
            <a:endParaRPr lang="en-US" sz="2250" dirty="0"/>
          </a:p>
        </p:txBody>
      </p:sp>
      <p:sp>
        <p:nvSpPr>
          <p:cNvPr id="23" name="Text 7"/>
          <p:cNvSpPr/>
          <p:nvPr/>
        </p:nvSpPr>
        <p:spPr>
          <a:xfrm>
            <a:off x="1820666" y="5101608"/>
            <a:ext cx="963416" cy="17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97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Cause</a:t>
            </a:r>
            <a:endParaRPr lang="en-US" sz="1350" dirty="0"/>
          </a:p>
        </p:txBody>
      </p:sp>
      <p:sp>
        <p:nvSpPr>
          <p:cNvPr id="24" name="Text 8"/>
          <p:cNvSpPr/>
          <p:nvPr/>
        </p:nvSpPr>
        <p:spPr>
          <a:xfrm>
            <a:off x="709885" y="5329785"/>
            <a:ext cx="3185076" cy="4331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bottleneck is identified as the manual scanning process at checkout counters.</a:t>
            </a:r>
            <a:endParaRPr lang="en-US" sz="1050" dirty="0"/>
          </a:p>
        </p:txBody>
      </p:sp>
      <p:sp>
        <p:nvSpPr>
          <p:cNvPr id="25" name="Text 9"/>
          <p:cNvSpPr/>
          <p:nvPr/>
        </p:nvSpPr>
        <p:spPr>
          <a:xfrm>
            <a:off x="5395545" y="5101608"/>
            <a:ext cx="1400756" cy="17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97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Gap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4503434" y="5329785"/>
            <a:ext cx="3185076" cy="4331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technology remains under-leveraged in traditional retail checkout environments.</a:t>
            </a:r>
            <a:endParaRPr lang="en-US" sz="1050" dirty="0"/>
          </a:p>
        </p:txBody>
      </p:sp>
      <p:sp>
        <p:nvSpPr>
          <p:cNvPr id="27" name="Text 11"/>
          <p:cNvSpPr/>
          <p:nvPr/>
        </p:nvSpPr>
        <p:spPr>
          <a:xfrm>
            <a:off x="9388749" y="5101608"/>
            <a:ext cx="1001446" cy="17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97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 Impact</a:t>
            </a:r>
            <a:endParaRPr lang="en-US" sz="1350" dirty="0"/>
          </a:p>
        </p:txBody>
      </p:sp>
      <p:sp>
        <p:nvSpPr>
          <p:cNvPr id="28" name="Text 12"/>
          <p:cNvSpPr/>
          <p:nvPr/>
        </p:nvSpPr>
        <p:spPr>
          <a:xfrm>
            <a:off x="8296984" y="5329785"/>
            <a:ext cx="3185076" cy="6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negatively impacts both the customer experience and the store owner's bottom line.</a:t>
            </a:r>
            <a:endParaRPr lang="en-US" sz="1050" dirty="0"/>
          </a:p>
        </p:txBody>
      </p:sp>
      <p:sp>
        <p:nvSpPr>
          <p:cNvPr id="29" name="Text 13"/>
          <p:cNvSpPr/>
          <p:nvPr/>
        </p:nvSpPr>
        <p:spPr>
          <a:xfrm>
            <a:off x="507061" y="6486617"/>
            <a:ext cx="11177822" cy="1014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799"/>
              </a:lnSpc>
              <a:buNone/>
            </a:pPr>
            <a:r>
              <a:rPr lang="en-US" sz="900" b="1" spc="-54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THINKING FRAMEWORK • PROBLEM DEFINITION STAGE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0200"/>
            <a:ext cx="3479750" cy="4038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00200"/>
            <a:ext cx="3479750" cy="1524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3528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162" y="3486150"/>
            <a:ext cx="219075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6050" y="1600200"/>
            <a:ext cx="3479750" cy="403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6050" y="1600200"/>
            <a:ext cx="3479750" cy="1524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8676" y="2019300"/>
            <a:ext cx="514350" cy="685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4650" y="33528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7525" y="3486150"/>
            <a:ext cx="171450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8050" y="3467100"/>
            <a:ext cx="1047750" cy="228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40601" y="1600200"/>
            <a:ext cx="3479899" cy="403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40601" y="1600200"/>
            <a:ext cx="3479899" cy="1524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9001" y="1932757"/>
            <a:ext cx="903099" cy="85873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69201" y="33528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6019800"/>
            <a:ext cx="11049000" cy="4572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6248400"/>
            <a:ext cx="655439" cy="2286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71500" y="419100"/>
            <a:ext cx="28270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933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IDEATION</a:t>
            </a:r>
            <a:endParaRPr lang="en-US" sz="1050" dirty="0"/>
          </a:p>
        </p:txBody>
      </p:sp>
      <p:sp>
        <p:nvSpPr>
          <p:cNvPr id="20" name="Text 1"/>
          <p:cNvSpPr/>
          <p:nvPr/>
        </p:nvSpPr>
        <p:spPr>
          <a:xfrm>
            <a:off x="571500" y="6858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Brainstorming Solutions</a:t>
            </a:r>
            <a:endParaRPr lang="en-US" sz="3600" dirty="0"/>
          </a:p>
        </p:txBody>
      </p:sp>
      <p:sp>
        <p:nvSpPr>
          <p:cNvPr id="21" name="Text 2"/>
          <p:cNvSpPr/>
          <p:nvPr/>
        </p:nvSpPr>
        <p:spPr>
          <a:xfrm>
            <a:off x="7419975" y="876300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if the queue wasn't a line, but an experience?"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800100" y="396240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Self-Checkout Kiosks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800100" y="4343400"/>
            <a:ext cx="464058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Dedicated physical stations</a:t>
            </a:r>
            <a:endParaRPr lang="en-US" sz="1050" dirty="0"/>
          </a:p>
        </p:txBody>
      </p:sp>
      <p:sp>
        <p:nvSpPr>
          <p:cNvPr id="24" name="Text 5"/>
          <p:cNvSpPr/>
          <p:nvPr/>
        </p:nvSpPr>
        <p:spPr>
          <a:xfrm>
            <a:off x="800100" y="4636294"/>
            <a:ext cx="528066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Customer-led scanning &amp; payment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800100" y="4929188"/>
            <a:ext cx="496062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Proven at Walmart, IKEA, etc.</a:t>
            </a:r>
            <a:endParaRPr lang="en-US" sz="1050" dirty="0"/>
          </a:p>
        </p:txBody>
      </p:sp>
      <p:sp>
        <p:nvSpPr>
          <p:cNvPr id="26" name="Text 7"/>
          <p:cNvSpPr/>
          <p:nvPr/>
        </p:nvSpPr>
        <p:spPr>
          <a:xfrm>
            <a:off x="5194250" y="3467100"/>
            <a:ext cx="15237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E2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FLEXIBLE</a:t>
            </a:r>
            <a:endParaRPr lang="en-US" sz="900" dirty="0"/>
          </a:p>
        </p:txBody>
      </p:sp>
      <p:sp>
        <p:nvSpPr>
          <p:cNvPr id="27" name="Text 8"/>
          <p:cNvSpPr/>
          <p:nvPr/>
        </p:nvSpPr>
        <p:spPr>
          <a:xfrm>
            <a:off x="4584650" y="39624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Scan &amp; Pay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4584650" y="4343400"/>
            <a:ext cx="496062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Scan items via smartphone app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4584650" y="4636294"/>
            <a:ext cx="448056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Digital wallet integration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4584650" y="4929188"/>
            <a:ext cx="480060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Zero physical checkout lines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8369201" y="3962400"/>
            <a:ext cx="38227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Queue Tokens</a:t>
            </a:r>
            <a:endParaRPr lang="en-US" sz="1500" dirty="0"/>
          </a:p>
        </p:txBody>
      </p:sp>
      <p:sp>
        <p:nvSpPr>
          <p:cNvPr id="32" name="Text 13"/>
          <p:cNvSpPr/>
          <p:nvPr/>
        </p:nvSpPr>
        <p:spPr>
          <a:xfrm>
            <a:off x="8369201" y="4343400"/>
            <a:ext cx="3822799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Digital queuing via SMS/App</a:t>
            </a:r>
            <a:endParaRPr lang="en-US" sz="1050" dirty="0"/>
          </a:p>
        </p:txBody>
      </p:sp>
      <p:sp>
        <p:nvSpPr>
          <p:cNvPr id="33" name="Text 14"/>
          <p:cNvSpPr/>
          <p:nvPr/>
        </p:nvSpPr>
        <p:spPr>
          <a:xfrm>
            <a:off x="8369201" y="4636294"/>
            <a:ext cx="352044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Browse while waiting</a:t>
            </a:r>
            <a:endParaRPr lang="en-US" sz="1050" dirty="0"/>
          </a:p>
        </p:txBody>
      </p:sp>
      <p:sp>
        <p:nvSpPr>
          <p:cNvPr id="34" name="Text 15"/>
          <p:cNvSpPr/>
          <p:nvPr/>
        </p:nvSpPr>
        <p:spPr>
          <a:xfrm>
            <a:off x="8369201" y="4929188"/>
            <a:ext cx="3822799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Reduces physical floor crowding</a:t>
            </a:r>
            <a:endParaRPr lang="en-US" sz="1050" dirty="0"/>
          </a:p>
        </p:txBody>
      </p:sp>
      <p:sp>
        <p:nvSpPr>
          <p:cNvPr id="35" name="Text 16"/>
          <p:cNvSpPr/>
          <p:nvPr/>
        </p:nvSpPr>
        <p:spPr>
          <a:xfrm>
            <a:off x="685800" y="6248400"/>
            <a:ext cx="625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-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</a:t>
            </a:r>
            <a:endParaRPr lang="en-US" sz="900" dirty="0"/>
          </a:p>
        </p:txBody>
      </p:sp>
      <p:sp>
        <p:nvSpPr>
          <p:cNvPr id="36" name="Text 17"/>
          <p:cNvSpPr/>
          <p:nvPr/>
        </p:nvSpPr>
        <p:spPr>
          <a:xfrm>
            <a:off x="1379339" y="6267450"/>
            <a:ext cx="10812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Ideation focused on reducing the </a:t>
            </a:r>
            <a:pPr indent="0" marL="0">
              <a:lnSpc>
                <a:spcPts val="1500"/>
              </a:lnSpc>
              <a:buNone/>
            </a:pPr>
            <a:r>
              <a:rPr lang="en-US" sz="1050" b="1" i="1" dirty="0">
                <a:solidFill>
                  <a:srgbClr val="7E2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checkout bottleneck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while leveraging existing technology.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581150"/>
            <a:ext cx="6858000" cy="409217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581150"/>
            <a:ext cx="6858000" cy="647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228850"/>
            <a:ext cx="6858000" cy="838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472928"/>
            <a:ext cx="17145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3067050"/>
            <a:ext cx="6858000" cy="838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311128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3905250"/>
            <a:ext cx="6858000" cy="838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4263628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4743450"/>
            <a:ext cx="6858000" cy="92987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350" y="4972050"/>
            <a:ext cx="485775" cy="47267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9650" y="5101828"/>
            <a:ext cx="257175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53250" y="5036939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10500" y="1924050"/>
            <a:ext cx="3810000" cy="333375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666750" y="476250"/>
            <a:ext cx="1085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666750" y="100965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the best fit based on efficiency, cost, and scalability.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857250" y="1581150"/>
            <a:ext cx="177343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350" dirty="0"/>
          </a:p>
        </p:txBody>
      </p:sp>
      <p:sp>
        <p:nvSpPr>
          <p:cNvPr id="19" name="Text 3"/>
          <p:cNvSpPr/>
          <p:nvPr/>
        </p:nvSpPr>
        <p:spPr>
          <a:xfrm>
            <a:off x="2821186" y="1581150"/>
            <a:ext cx="7334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3935611" y="1581150"/>
            <a:ext cx="82882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</a:t>
            </a:r>
            <a:endParaRPr lang="en-US" sz="1350" dirty="0"/>
          </a:p>
        </p:txBody>
      </p:sp>
      <p:sp>
        <p:nvSpPr>
          <p:cNvPr id="21" name="Text 5"/>
          <p:cNvSpPr/>
          <p:nvPr/>
        </p:nvSpPr>
        <p:spPr>
          <a:xfrm>
            <a:off x="5335935" y="1581150"/>
            <a:ext cx="199831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Benefit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1104900" y="2228850"/>
            <a:ext cx="177343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Self-Checkout Kiosks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3121223" y="2533650"/>
            <a:ext cx="285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1C1C"/>
                </a:solidFill>
                <a:highlight>
                  <a:srgbClr val="FEE2E2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50" dirty="0"/>
          </a:p>
        </p:txBody>
      </p:sp>
      <p:sp>
        <p:nvSpPr>
          <p:cNvPr id="24" name="Text 8"/>
          <p:cNvSpPr/>
          <p:nvPr/>
        </p:nvSpPr>
        <p:spPr>
          <a:xfrm>
            <a:off x="4283273" y="2533650"/>
            <a:ext cx="285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5803D"/>
                </a:solidFill>
                <a:highlight>
                  <a:srgbClr val="DCFCE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50" dirty="0"/>
          </a:p>
        </p:txBody>
      </p:sp>
      <p:sp>
        <p:nvSpPr>
          <p:cNvPr id="25" name="Text 9"/>
          <p:cNvSpPr/>
          <p:nvPr/>
        </p:nvSpPr>
        <p:spPr>
          <a:xfrm>
            <a:off x="5335935" y="2228850"/>
            <a:ext cx="199831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scanning &amp; payment</a:t>
            </a:r>
            <a:endParaRPr lang="en-US" sz="1050" dirty="0"/>
          </a:p>
        </p:txBody>
      </p:sp>
      <p:sp>
        <p:nvSpPr>
          <p:cNvPr id="26" name="Text 10"/>
          <p:cNvSpPr/>
          <p:nvPr/>
        </p:nvSpPr>
        <p:spPr>
          <a:xfrm>
            <a:off x="1104900" y="3067050"/>
            <a:ext cx="177343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Virtual Queue Token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3135511" y="3371850"/>
            <a:ext cx="257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5803D"/>
                </a:solidFill>
                <a:highlight>
                  <a:srgbClr val="DCFCE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050" dirty="0"/>
          </a:p>
        </p:txBody>
      </p:sp>
      <p:sp>
        <p:nvSpPr>
          <p:cNvPr id="28" name="Text 12"/>
          <p:cNvSpPr/>
          <p:nvPr/>
        </p:nvSpPr>
        <p:spPr>
          <a:xfrm>
            <a:off x="4173736" y="3371850"/>
            <a:ext cx="5048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6207"/>
                </a:solidFill>
                <a:highlight>
                  <a:srgbClr val="FEF9C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50" dirty="0"/>
          </a:p>
        </p:txBody>
      </p:sp>
      <p:sp>
        <p:nvSpPr>
          <p:cNvPr id="29" name="Text 13"/>
          <p:cNvSpPr/>
          <p:nvPr/>
        </p:nvSpPr>
        <p:spPr>
          <a:xfrm>
            <a:off x="5335935" y="3067050"/>
            <a:ext cx="3359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physical crowding</a:t>
            </a:r>
            <a:endParaRPr lang="en-US" sz="1050" dirty="0"/>
          </a:p>
        </p:txBody>
      </p:sp>
      <p:sp>
        <p:nvSpPr>
          <p:cNvPr id="30" name="Text 14"/>
          <p:cNvSpPr/>
          <p:nvPr/>
        </p:nvSpPr>
        <p:spPr>
          <a:xfrm>
            <a:off x="1047750" y="3905250"/>
            <a:ext cx="270969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2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Mobile Scan &amp; Pay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3011686" y="4210050"/>
            <a:ext cx="5048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6207"/>
                </a:solidFill>
                <a:highlight>
                  <a:srgbClr val="FEF9C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50" dirty="0"/>
          </a:p>
        </p:txBody>
      </p:sp>
      <p:sp>
        <p:nvSpPr>
          <p:cNvPr id="32" name="Text 16"/>
          <p:cNvSpPr/>
          <p:nvPr/>
        </p:nvSpPr>
        <p:spPr>
          <a:xfrm>
            <a:off x="4340423" y="4095750"/>
            <a:ext cx="1714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5803D"/>
                </a:solidFill>
                <a:highlight>
                  <a:srgbClr val="DCFCE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33" name="Text 17"/>
          <p:cNvSpPr/>
          <p:nvPr/>
        </p:nvSpPr>
        <p:spPr>
          <a:xfrm>
            <a:off x="5335935" y="3905250"/>
            <a:ext cx="282231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i="1" dirty="0">
                <a:solidFill>
                  <a:srgbClr val="7E2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Skips queues entirely</a:t>
            </a:r>
            <a:endParaRPr lang="en-US" sz="1050" dirty="0"/>
          </a:p>
        </p:txBody>
      </p:sp>
      <p:sp>
        <p:nvSpPr>
          <p:cNvPr id="34" name="Text 18"/>
          <p:cNvSpPr/>
          <p:nvPr/>
        </p:nvSpPr>
        <p:spPr>
          <a:xfrm>
            <a:off x="1533525" y="4979789"/>
            <a:ext cx="754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Choice: Mobile Scan &amp; Pay</a:t>
            </a:r>
            <a:endParaRPr lang="en-US" sz="1500" dirty="0"/>
          </a:p>
        </p:txBody>
      </p:sp>
      <p:sp>
        <p:nvSpPr>
          <p:cNvPr id="35" name="Text 19"/>
          <p:cNvSpPr/>
          <p:nvPr/>
        </p:nvSpPr>
        <p:spPr>
          <a:xfrm>
            <a:off x="1533525" y="5246489"/>
            <a:ext cx="800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balance of speed, cost, and user flexibility.</a:t>
            </a:r>
            <a:endParaRPr lang="en-US" sz="1050" dirty="0"/>
          </a:p>
        </p:txBody>
      </p:sp>
      <p:sp>
        <p:nvSpPr>
          <p:cNvPr id="36" name="Text 20"/>
          <p:cNvSpPr/>
          <p:nvPr/>
        </p:nvSpPr>
        <p:spPr>
          <a:xfrm>
            <a:off x="8619083" y="1581150"/>
            <a:ext cx="35729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spc="54" kern="0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MATRIX</a:t>
            </a:r>
            <a:endParaRPr lang="en-US" sz="1350" dirty="0"/>
          </a:p>
        </p:txBody>
      </p:sp>
      <p:sp>
        <p:nvSpPr>
          <p:cNvPr id="37" name="Text 21"/>
          <p:cNvSpPr/>
          <p:nvPr/>
        </p:nvSpPr>
        <p:spPr>
          <a:xfrm>
            <a:off x="7905750" y="54102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*Chart based on internal evaluation of Cost Efficiency, Processing Speed, and Solution Flexibility.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43100"/>
            <a:ext cx="5295900" cy="800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114550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2479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95600"/>
            <a:ext cx="5295900" cy="800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306705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2004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848100"/>
            <a:ext cx="5295900" cy="800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01955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063" y="4152900"/>
            <a:ext cx="14287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5029200"/>
            <a:ext cx="5295900" cy="990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943100"/>
            <a:ext cx="5295900" cy="26860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1943100"/>
            <a:ext cx="5295900" cy="26860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3486150"/>
            <a:ext cx="5295900" cy="1143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4857750"/>
            <a:ext cx="5295900" cy="914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06150" y="5172075"/>
            <a:ext cx="285750" cy="2857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Solution: Mobile Scan &amp; Pay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571500" y="1181100"/>
            <a:ext cx="1162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seamless digital bridge between physical shopping and instant checkout.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1371600" y="2095500"/>
            <a:ext cx="424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Scanning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371600" y="236220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product barcodes instantly using your phone camera.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1371600" y="30480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One-Tap Digital Payment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1371600" y="331470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payment via UPI, Credit Cards, or Mobile Wallets.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1371600" y="4000500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 the Queue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1371600" y="426720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out after payment—no waiting at traditional counters.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800100" y="5257800"/>
            <a:ext cx="4838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BENCHMARKS</a:t>
            </a:r>
            <a:endParaRPr lang="en-US" sz="900" dirty="0"/>
          </a:p>
        </p:txBody>
      </p:sp>
      <p:sp>
        <p:nvSpPr>
          <p:cNvPr id="27" name="Text 9"/>
          <p:cNvSpPr/>
          <p:nvPr/>
        </p:nvSpPr>
        <p:spPr>
          <a:xfrm>
            <a:off x="800100" y="5524500"/>
            <a:ext cx="18516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Go</a:t>
            </a:r>
            <a:endParaRPr lang="en-US" sz="1350" dirty="0"/>
          </a:p>
        </p:txBody>
      </p:sp>
      <p:sp>
        <p:nvSpPr>
          <p:cNvPr id="28" name="Text 10"/>
          <p:cNvSpPr/>
          <p:nvPr/>
        </p:nvSpPr>
        <p:spPr>
          <a:xfrm>
            <a:off x="2057400" y="554355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2409825" y="5524500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Walmart Scan &amp; Go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4286250" y="554355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4638675" y="5524500"/>
            <a:ext cx="18516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IKEA Scan</a:t>
            </a:r>
            <a:endParaRPr lang="en-US" sz="1350" dirty="0"/>
          </a:p>
        </p:txBody>
      </p:sp>
      <p:sp>
        <p:nvSpPr>
          <p:cNvPr id="32" name="Text 14"/>
          <p:cNvSpPr/>
          <p:nvPr/>
        </p:nvSpPr>
        <p:spPr>
          <a:xfrm>
            <a:off x="6629400" y="379095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"Transforming the smartphone into a personal checkout counter."</a:t>
            </a:r>
            <a:endParaRPr lang="en-US" sz="1500" dirty="0"/>
          </a:p>
        </p:txBody>
      </p:sp>
      <p:sp>
        <p:nvSpPr>
          <p:cNvPr id="33" name="Text 15"/>
          <p:cNvSpPr/>
          <p:nvPr/>
        </p:nvSpPr>
        <p:spPr>
          <a:xfrm>
            <a:off x="6553200" y="5086350"/>
            <a:ext cx="3524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GOAL</a:t>
            </a:r>
            <a:endParaRPr lang="en-US" sz="900" dirty="0"/>
          </a:p>
        </p:txBody>
      </p:sp>
      <p:sp>
        <p:nvSpPr>
          <p:cNvPr id="34" name="Text 16"/>
          <p:cNvSpPr/>
          <p:nvPr/>
        </p:nvSpPr>
        <p:spPr>
          <a:xfrm>
            <a:off x="6553200" y="5276850"/>
            <a:ext cx="563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 time reduced to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8B4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2 minutes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8105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24000"/>
            <a:ext cx="3041600" cy="165571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7526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184785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7400" y="1524000"/>
            <a:ext cx="3041749" cy="165571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6000" y="17526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6963" y="1847850"/>
            <a:ext cx="219075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408313"/>
            <a:ext cx="3041600" cy="165571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636913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763" y="3732163"/>
            <a:ext cx="219075" cy="190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27400" y="3408313"/>
            <a:ext cx="3041749" cy="165571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56000" y="3636913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51250" y="3732163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5292626"/>
            <a:ext cx="6311950" cy="110817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5703838"/>
            <a:ext cx="285750" cy="2857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92997" y="5656213"/>
            <a:ext cx="814239" cy="381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59636" y="5656213"/>
            <a:ext cx="880914" cy="3810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6350" y="1524000"/>
            <a:ext cx="4508450" cy="396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26350" y="1524000"/>
            <a:ext cx="4508450" cy="396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26350" y="5715000"/>
            <a:ext cx="2177951" cy="6858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78750" y="5886450"/>
            <a:ext cx="1143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56700" y="5715000"/>
            <a:ext cx="2178100" cy="6858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09100" y="5886450"/>
            <a:ext cx="133350" cy="152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457200"/>
            <a:ext cx="417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168" kern="0" dirty="0">
                <a:solidFill>
                  <a:srgbClr val="7E2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4: PROTOTYPE</a:t>
            </a:r>
            <a:endParaRPr lang="en-US" sz="1050" dirty="0"/>
          </a:p>
        </p:txBody>
      </p:sp>
      <p:sp>
        <p:nvSpPr>
          <p:cNvPr id="27" name="Text 1"/>
          <p:cNvSpPr/>
          <p:nvPr/>
        </p:nvSpPr>
        <p:spPr>
          <a:xfrm>
            <a:off x="457200" y="6858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Core Features</a:t>
            </a:r>
            <a:endParaRPr lang="en-US" sz="3600" dirty="0"/>
          </a:p>
        </p:txBody>
      </p:sp>
      <p:sp>
        <p:nvSpPr>
          <p:cNvPr id="28" name="Text 2"/>
          <p:cNvSpPr/>
          <p:nvPr/>
        </p:nvSpPr>
        <p:spPr>
          <a:xfrm>
            <a:off x="685800" y="2247900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Barcode Scanner</a:t>
            </a:r>
            <a:endParaRPr lang="en-US" sz="1350" dirty="0"/>
          </a:p>
        </p:txBody>
      </p:sp>
      <p:sp>
        <p:nvSpPr>
          <p:cNvPr id="29" name="Text 3"/>
          <p:cNvSpPr/>
          <p:nvPr/>
        </p:nvSpPr>
        <p:spPr>
          <a:xfrm>
            <a:off x="685800" y="2514600"/>
            <a:ext cx="25844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High-speed camera integration for instant product identification.</a:t>
            </a:r>
            <a:endParaRPr lang="en-US" sz="1050" dirty="0"/>
          </a:p>
        </p:txBody>
      </p:sp>
      <p:sp>
        <p:nvSpPr>
          <p:cNvPr id="30" name="Text 4"/>
          <p:cNvSpPr/>
          <p:nvPr/>
        </p:nvSpPr>
        <p:spPr>
          <a:xfrm>
            <a:off x="3956000" y="2247900"/>
            <a:ext cx="25845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Cart</a:t>
            </a:r>
            <a:endParaRPr lang="en-US" sz="1350" dirty="0"/>
          </a:p>
        </p:txBody>
      </p:sp>
      <p:sp>
        <p:nvSpPr>
          <p:cNvPr id="31" name="Text 5"/>
          <p:cNvSpPr/>
          <p:nvPr/>
        </p:nvSpPr>
        <p:spPr>
          <a:xfrm>
            <a:off x="3956000" y="2514600"/>
            <a:ext cx="258454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summary of items, quantities, and total price.</a:t>
            </a:r>
            <a:endParaRPr lang="en-US" sz="1050" dirty="0"/>
          </a:p>
        </p:txBody>
      </p:sp>
      <p:sp>
        <p:nvSpPr>
          <p:cNvPr id="32" name="Text 6"/>
          <p:cNvSpPr/>
          <p:nvPr/>
        </p:nvSpPr>
        <p:spPr>
          <a:xfrm>
            <a:off x="685800" y="4132213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Payment</a:t>
            </a:r>
            <a:endParaRPr lang="en-US" sz="1350" dirty="0"/>
          </a:p>
        </p:txBody>
      </p:sp>
      <p:sp>
        <p:nvSpPr>
          <p:cNvPr id="33" name="Text 7"/>
          <p:cNvSpPr/>
          <p:nvPr/>
        </p:nvSpPr>
        <p:spPr>
          <a:xfrm>
            <a:off x="685800" y="4398913"/>
            <a:ext cx="25844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UPI, cards, and mobile wallets for one-tap checkout.</a:t>
            </a:r>
            <a:endParaRPr lang="en-US" sz="1050" dirty="0"/>
          </a:p>
        </p:txBody>
      </p:sp>
      <p:sp>
        <p:nvSpPr>
          <p:cNvPr id="34" name="Text 8"/>
          <p:cNvSpPr/>
          <p:nvPr/>
        </p:nvSpPr>
        <p:spPr>
          <a:xfrm>
            <a:off x="3956000" y="4132213"/>
            <a:ext cx="2674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 Tracker</a:t>
            </a:r>
            <a:endParaRPr lang="en-US" sz="1350" dirty="0"/>
          </a:p>
        </p:txBody>
      </p:sp>
      <p:sp>
        <p:nvSpPr>
          <p:cNvPr id="35" name="Text 9"/>
          <p:cNvSpPr/>
          <p:nvPr/>
        </p:nvSpPr>
        <p:spPr>
          <a:xfrm>
            <a:off x="3956000" y="4398913"/>
            <a:ext cx="258454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updates on store congestion and checkout wait times.</a:t>
            </a:r>
            <a:endParaRPr lang="en-US" sz="1050" dirty="0"/>
          </a:p>
        </p:txBody>
      </p:sp>
      <p:sp>
        <p:nvSpPr>
          <p:cNvPr id="36" name="Text 10"/>
          <p:cNvSpPr/>
          <p:nvPr/>
        </p:nvSpPr>
        <p:spPr>
          <a:xfrm>
            <a:off x="1123950" y="5522863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Design Philosophy</a:t>
            </a:r>
            <a:endParaRPr lang="en-US" sz="1350" dirty="0"/>
          </a:p>
        </p:txBody>
      </p:sp>
      <p:sp>
        <p:nvSpPr>
          <p:cNvPr id="37" name="Text 11"/>
          <p:cNvSpPr/>
          <p:nvPr/>
        </p:nvSpPr>
        <p:spPr>
          <a:xfrm>
            <a:off x="1123950" y="5789563"/>
            <a:ext cx="35690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3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clean interface with large accessibility-focused touch targets.</a:t>
            </a:r>
            <a:endParaRPr lang="en-US" sz="1050" dirty="0"/>
          </a:p>
        </p:txBody>
      </p:sp>
      <p:sp>
        <p:nvSpPr>
          <p:cNvPr id="38" name="Text 12"/>
          <p:cNvSpPr/>
          <p:nvPr/>
        </p:nvSpPr>
        <p:spPr>
          <a:xfrm>
            <a:off x="4807297" y="5656213"/>
            <a:ext cx="5856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One-Tap Flow</a:t>
            </a:r>
            <a:endParaRPr lang="en-US" sz="900" dirty="0"/>
          </a:p>
        </p:txBody>
      </p:sp>
      <p:sp>
        <p:nvSpPr>
          <p:cNvPr id="39" name="Text 13"/>
          <p:cNvSpPr/>
          <p:nvPr/>
        </p:nvSpPr>
        <p:spPr>
          <a:xfrm>
            <a:off x="5773936" y="5656213"/>
            <a:ext cx="6523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Sync</a:t>
            </a:r>
            <a:endParaRPr lang="en-US" sz="900" dirty="0"/>
          </a:p>
        </p:txBody>
      </p:sp>
      <p:sp>
        <p:nvSpPr>
          <p:cNvPr id="40" name="Text 14"/>
          <p:cNvSpPr/>
          <p:nvPr/>
        </p:nvSpPr>
        <p:spPr>
          <a:xfrm>
            <a:off x="7454950" y="4876800"/>
            <a:ext cx="405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"User-centric interface designed for rapid scanning and seamless payment."</a:t>
            </a:r>
            <a:endParaRPr lang="en-US" sz="1050" dirty="0"/>
          </a:p>
        </p:txBody>
      </p:sp>
      <p:sp>
        <p:nvSpPr>
          <p:cNvPr id="41" name="Text 15"/>
          <p:cNvSpPr/>
          <p:nvPr/>
        </p:nvSpPr>
        <p:spPr>
          <a:xfrm>
            <a:off x="7569250" y="58674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Receipt</a:t>
            </a:r>
            <a:endParaRPr lang="en-US" sz="1050" dirty="0"/>
          </a:p>
        </p:txBody>
      </p:sp>
      <p:sp>
        <p:nvSpPr>
          <p:cNvPr id="42" name="Text 16"/>
          <p:cNvSpPr/>
          <p:nvPr/>
        </p:nvSpPr>
        <p:spPr>
          <a:xfrm>
            <a:off x="7378750" y="6096000"/>
            <a:ext cx="4251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SMS/Email confirmation.</a:t>
            </a:r>
            <a:endParaRPr lang="en-US" sz="900" dirty="0"/>
          </a:p>
        </p:txBody>
      </p:sp>
      <p:sp>
        <p:nvSpPr>
          <p:cNvPr id="43" name="Text 17"/>
          <p:cNvSpPr/>
          <p:nvPr/>
        </p:nvSpPr>
        <p:spPr>
          <a:xfrm>
            <a:off x="9918650" y="5867400"/>
            <a:ext cx="20802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44" name="Text 18"/>
          <p:cNvSpPr/>
          <p:nvPr/>
        </p:nvSpPr>
        <p:spPr>
          <a:xfrm>
            <a:off x="9709100" y="6096000"/>
            <a:ext cx="248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alerts for offers &amp; exit.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28800"/>
            <a:ext cx="1447800" cy="12763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971675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5" y="2124075"/>
            <a:ext cx="17145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1700" y="1828800"/>
            <a:ext cx="1447800" cy="12763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7000" y="1971675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8450" y="2124075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1900" y="1828800"/>
            <a:ext cx="1447800" cy="12763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7200" y="1971675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9600" y="21240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72100" y="1828800"/>
            <a:ext cx="1447800" cy="12763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7400" y="1971675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0275" y="2124075"/>
            <a:ext cx="17145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72300" y="1828800"/>
            <a:ext cx="1447800" cy="12763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67600" y="1971675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10475" y="2124075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72500" y="1828800"/>
            <a:ext cx="1447800" cy="12763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67800" y="1971675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20200" y="212407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72700" y="1828800"/>
            <a:ext cx="1447800" cy="12763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68000" y="1971675"/>
            <a:ext cx="457200" cy="4572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39450" y="2124075"/>
            <a:ext cx="1143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3562350"/>
            <a:ext cx="11049000" cy="28575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6300" y="4115991"/>
            <a:ext cx="1257300" cy="2667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8700" y="4193828"/>
            <a:ext cx="104775" cy="1333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24600" y="4210050"/>
            <a:ext cx="4981575" cy="19050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Journey</a:t>
            </a:r>
            <a:endParaRPr lang="en-US" sz="3600" dirty="0"/>
          </a:p>
        </p:txBody>
      </p:sp>
      <p:sp>
        <p:nvSpPr>
          <p:cNvPr id="29" name="Text 1"/>
          <p:cNvSpPr/>
          <p:nvPr/>
        </p:nvSpPr>
        <p:spPr>
          <a:xfrm>
            <a:off x="571500" y="1104900"/>
            <a:ext cx="1162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33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seamless end-to-end shopping experience powered by Scan &amp; Pay technology.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1071563" y="2581275"/>
            <a:ext cx="447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01</a:t>
            </a:r>
            <a:endParaRPr lang="en-US" sz="900" dirty="0"/>
          </a:p>
        </p:txBody>
      </p:sp>
      <p:sp>
        <p:nvSpPr>
          <p:cNvPr id="31" name="Text 3"/>
          <p:cNvSpPr/>
          <p:nvPr/>
        </p:nvSpPr>
        <p:spPr>
          <a:xfrm>
            <a:off x="928688" y="277177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Store</a:t>
            </a:r>
            <a:endParaRPr lang="en-US" sz="1050" dirty="0"/>
          </a:p>
        </p:txBody>
      </p:sp>
      <p:sp>
        <p:nvSpPr>
          <p:cNvPr id="32" name="Text 4"/>
          <p:cNvSpPr/>
          <p:nvPr/>
        </p:nvSpPr>
        <p:spPr>
          <a:xfrm>
            <a:off x="2657475" y="2581275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02</a:t>
            </a:r>
            <a:endParaRPr lang="en-US" sz="900" dirty="0"/>
          </a:p>
        </p:txBody>
      </p:sp>
      <p:sp>
        <p:nvSpPr>
          <p:cNvPr id="33" name="Text 5"/>
          <p:cNvSpPr/>
          <p:nvPr/>
        </p:nvSpPr>
        <p:spPr>
          <a:xfrm>
            <a:off x="2571750" y="277177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App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4257675" y="2581275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03</a:t>
            </a:r>
            <a:endParaRPr lang="en-US" sz="900" dirty="0"/>
          </a:p>
        </p:txBody>
      </p:sp>
      <p:sp>
        <p:nvSpPr>
          <p:cNvPr id="35" name="Text 7"/>
          <p:cNvSpPr/>
          <p:nvPr/>
        </p:nvSpPr>
        <p:spPr>
          <a:xfrm>
            <a:off x="4138613" y="2771775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Items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5857875" y="2581275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04</a:t>
            </a:r>
            <a:endParaRPr lang="en-US" sz="900" dirty="0"/>
          </a:p>
        </p:txBody>
      </p:sp>
      <p:sp>
        <p:nvSpPr>
          <p:cNvPr id="37" name="Text 9"/>
          <p:cNvSpPr/>
          <p:nvPr/>
        </p:nvSpPr>
        <p:spPr>
          <a:xfrm>
            <a:off x="5710238" y="2771775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Cart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7462838" y="2581275"/>
            <a:ext cx="466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05</a:t>
            </a:r>
            <a:endParaRPr lang="en-US" sz="900" dirty="0"/>
          </a:p>
        </p:txBody>
      </p:sp>
      <p:sp>
        <p:nvSpPr>
          <p:cNvPr id="39" name="Text 11"/>
          <p:cNvSpPr/>
          <p:nvPr/>
        </p:nvSpPr>
        <p:spPr>
          <a:xfrm>
            <a:off x="7277100" y="2771775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Instantly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9058275" y="2581275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06</a:t>
            </a:r>
            <a:endParaRPr lang="en-US" sz="900" dirty="0"/>
          </a:p>
        </p:txBody>
      </p:sp>
      <p:sp>
        <p:nvSpPr>
          <p:cNvPr id="41" name="Text 13"/>
          <p:cNvSpPr/>
          <p:nvPr/>
        </p:nvSpPr>
        <p:spPr>
          <a:xfrm>
            <a:off x="8982075" y="277177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Store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10663238" y="2581275"/>
            <a:ext cx="466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8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07</a:t>
            </a:r>
            <a:endParaRPr lang="en-US" sz="900" dirty="0"/>
          </a:p>
        </p:txBody>
      </p:sp>
      <p:sp>
        <p:nvSpPr>
          <p:cNvPr id="43" name="Text 15"/>
          <p:cNvSpPr/>
          <p:nvPr/>
        </p:nvSpPr>
        <p:spPr>
          <a:xfrm>
            <a:off x="10525125" y="2771775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Receipt</a:t>
            </a:r>
            <a:endParaRPr lang="en-US" sz="1050" dirty="0"/>
          </a:p>
        </p:txBody>
      </p:sp>
      <p:sp>
        <p:nvSpPr>
          <p:cNvPr id="44" name="Text 16"/>
          <p:cNvSpPr/>
          <p:nvPr/>
        </p:nvSpPr>
        <p:spPr>
          <a:xfrm>
            <a:off x="1209675" y="4115991"/>
            <a:ext cx="1495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80% Faster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876300" y="4535091"/>
            <a:ext cx="7200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Dramatic Time Savings</a:t>
            </a:r>
            <a:endParaRPr lang="en-US" sz="2250" dirty="0"/>
          </a:p>
        </p:txBody>
      </p:sp>
      <p:sp>
        <p:nvSpPr>
          <p:cNvPr id="46" name="Text 18"/>
          <p:cNvSpPr/>
          <p:nvPr/>
        </p:nvSpPr>
        <p:spPr>
          <a:xfrm>
            <a:off x="876300" y="5030391"/>
            <a:ext cx="49911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eliminating the physical queue bottleneck, the total checkout time is reduced from an average of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7E2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10-20 minutes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2 minutes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47" name="Text 19"/>
          <p:cNvSpPr/>
          <p:nvPr/>
        </p:nvSpPr>
        <p:spPr>
          <a:xfrm>
            <a:off x="6324600" y="3867150"/>
            <a:ext cx="499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 DURATION COMPARISON (MINUTES)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04900"/>
            <a:ext cx="1219200" cy="571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57350"/>
            <a:ext cx="190500" cy="190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38350"/>
            <a:ext cx="3082826" cy="914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381250"/>
            <a:ext cx="200025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6726" y="2038350"/>
            <a:ext cx="3082975" cy="914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5326" y="2381250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219450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600450"/>
            <a:ext cx="6318200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71475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324350"/>
            <a:ext cx="6318200" cy="609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43865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048250"/>
            <a:ext cx="6318200" cy="609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516255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94500" y="1619250"/>
            <a:ext cx="4426000" cy="46672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3100" y="2266950"/>
            <a:ext cx="3952875" cy="286702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3100" y="5319713"/>
            <a:ext cx="3968800" cy="738188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71500" y="5715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Feedback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10376446" y="790575"/>
            <a:ext cx="12440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933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05: TEST</a:t>
            </a:r>
            <a:endParaRPr lang="en-US" sz="1050" dirty="0"/>
          </a:p>
        </p:txBody>
      </p:sp>
      <p:sp>
        <p:nvSpPr>
          <p:cNvPr id="21" name="Text 2"/>
          <p:cNvSpPr/>
          <p:nvPr/>
        </p:nvSpPr>
        <p:spPr>
          <a:xfrm>
            <a:off x="876300" y="1619250"/>
            <a:ext cx="631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Performance Indicators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1152525" y="2266950"/>
            <a:ext cx="2240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REDUCTION</a:t>
            </a:r>
            <a:endParaRPr lang="en-US" sz="1050" dirty="0"/>
          </a:p>
        </p:txBody>
      </p:sp>
      <p:sp>
        <p:nvSpPr>
          <p:cNvPr id="23" name="Text 4"/>
          <p:cNvSpPr/>
          <p:nvPr/>
        </p:nvSpPr>
        <p:spPr>
          <a:xfrm>
            <a:off x="1152525" y="2457450"/>
            <a:ext cx="4594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80% Reduction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4416326" y="2266950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4416326" y="2457450"/>
            <a:ext cx="4320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&amp; In-app Feedback</a:t>
            </a:r>
            <a:endParaRPr lang="en-US" sz="1350" dirty="0"/>
          </a:p>
        </p:txBody>
      </p:sp>
      <p:sp>
        <p:nvSpPr>
          <p:cNvPr id="26" name="Text 7"/>
          <p:cNvSpPr/>
          <p:nvPr/>
        </p:nvSpPr>
        <p:spPr>
          <a:xfrm>
            <a:off x="876300" y="3181350"/>
            <a:ext cx="631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Strategy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842963" y="37147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1219200" y="379095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Launch: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Single store deployment for real-world stress testing.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828675" y="44386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1219200" y="451485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A/B Testing: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 users vs. traditional checkout performance comparison.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828675" y="51625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1219200" y="523875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Qualitative Feedback: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In-depth user interviews post-experience.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7423100" y="1847850"/>
            <a:ext cx="396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Improvement Metrics</a:t>
            </a:r>
            <a:endParaRPr lang="en-US" sz="1350" dirty="0"/>
          </a:p>
        </p:txBody>
      </p:sp>
      <p:sp>
        <p:nvSpPr>
          <p:cNvPr id="34" name="Text 15"/>
          <p:cNvSpPr/>
          <p:nvPr/>
        </p:nvSpPr>
        <p:spPr>
          <a:xfrm>
            <a:off x="7575500" y="5472113"/>
            <a:ext cx="36640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i="1" dirty="0">
                <a:solidFill>
                  <a:srgbClr val="6B2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"Initial results indicate a significant shift in retail efficiency and customer retention."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4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36" y="1009732"/>
            <a:ext cx="1040076" cy="4875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36" y="2207876"/>
            <a:ext cx="320834" cy="42354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43" y="2337377"/>
            <a:ext cx="125820" cy="17762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536" y="3125560"/>
            <a:ext cx="364255" cy="42354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043" y="3255696"/>
            <a:ext cx="169241" cy="17647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536" y="4043244"/>
            <a:ext cx="397138" cy="42354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043" y="4177951"/>
            <a:ext cx="202124" cy="16721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4003" y="1894279"/>
            <a:ext cx="5420405" cy="318523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9017" y="2446819"/>
            <a:ext cx="5013490" cy="243767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536" y="5557905"/>
            <a:ext cx="11216872" cy="81256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87536" y="487536"/>
            <a:ext cx="11704464" cy="4571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581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Impact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487536" y="1188495"/>
            <a:ext cx="11704464" cy="22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91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retail through user-centric innovation and technology.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938379" y="2207876"/>
            <a:ext cx="4955596" cy="22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91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Insight</a:t>
            </a:r>
            <a:endParaRPr lang="en-US" sz="1500" dirty="0"/>
          </a:p>
        </p:txBody>
      </p:sp>
      <p:sp>
        <p:nvSpPr>
          <p:cNvPr id="16" name="Text 3"/>
          <p:cNvSpPr/>
          <p:nvPr/>
        </p:nvSpPr>
        <p:spPr>
          <a:xfrm>
            <a:off x="938379" y="2435392"/>
            <a:ext cx="4955596" cy="49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Thinking identified the root cause as manual bottlenecks, not just physical line length.</a:t>
            </a:r>
            <a:endParaRPr lang="en-US" sz="1200" dirty="0"/>
          </a:p>
        </p:txBody>
      </p:sp>
      <p:sp>
        <p:nvSpPr>
          <p:cNvPr id="17" name="Text 4"/>
          <p:cNvSpPr/>
          <p:nvPr/>
        </p:nvSpPr>
        <p:spPr>
          <a:xfrm>
            <a:off x="981800" y="3125560"/>
            <a:ext cx="4912175" cy="22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91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Solution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981800" y="3353076"/>
            <a:ext cx="4912175" cy="49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Mobile Scan &amp; Pay App offers a cost-effective, future-ready model for any retail format.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1014683" y="4043244"/>
            <a:ext cx="4879291" cy="22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91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Impact</a:t>
            </a:r>
            <a:endParaRPr lang="en-US" sz="1500" dirty="0"/>
          </a:p>
        </p:txBody>
      </p:sp>
      <p:sp>
        <p:nvSpPr>
          <p:cNvPr id="20" name="Text 7"/>
          <p:cNvSpPr/>
          <p:nvPr/>
        </p:nvSpPr>
        <p:spPr>
          <a:xfrm>
            <a:off x="1014683" y="4270761"/>
            <a:ext cx="4879291" cy="49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Empowers staff to focus on high-value customer service instead of repetitive manual scanning.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6479017" y="2089293"/>
            <a:ext cx="5030377" cy="22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91"/>
              </a:lnSpc>
              <a:buNone/>
            </a:pPr>
            <a:r>
              <a:rPr lang="en-US" sz="1350" b="1" spc="127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PERFORMANCE GAINS</a:t>
            </a:r>
            <a:endParaRPr lang="en-US" sz="1350" dirty="0"/>
          </a:p>
        </p:txBody>
      </p:sp>
      <p:sp>
        <p:nvSpPr>
          <p:cNvPr id="22" name="Text 9"/>
          <p:cNvSpPr/>
          <p:nvPr/>
        </p:nvSpPr>
        <p:spPr>
          <a:xfrm>
            <a:off x="747555" y="5817924"/>
            <a:ext cx="10696834" cy="29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303"/>
              </a:lnSpc>
              <a:buNone/>
            </a:pPr>
            <a:r>
              <a:rPr lang="en-US" sz="225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"Smarter shopping, faster checkout — one scan at a time."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2026-04-13T17:58:20Z</dcterms:created>
  <dcterms:modified xsi:type="dcterms:W3CDTF">2026-04-13T17:58:20Z</dcterms:modified>
</cp:coreProperties>
</file>